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1" r:id="rId4"/>
    <p:sldId id="265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7"/>
    <p:restoredTop sz="81508"/>
  </p:normalViewPr>
  <p:slideViewPr>
    <p:cSldViewPr snapToGrid="0">
      <p:cViewPr varScale="1">
        <p:scale>
          <a:sx n="109" d="100"/>
          <a:sy n="109" d="100"/>
        </p:scale>
        <p:origin x="80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9B386-FF78-8641-A5E7-74BA71E944AA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DC235-C871-4D4F-AF7E-CC9C00210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3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DC235-C871-4D4F-AF7E-CC9C002107C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457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portfolio focuses on student engagement and retention prediction.</a:t>
            </a:r>
            <a:br>
              <a:rPr lang="en-US" dirty="0"/>
            </a:br>
            <a:r>
              <a:rPr lang="en-US" dirty="0"/>
              <a:t>I used synthetic data to design and test the pipeline safely, then validated behavior on real public data.</a:t>
            </a:r>
          </a:p>
          <a:p>
            <a:r>
              <a:rPr lang="en-US" dirty="0"/>
              <a:t>This portfolio combines unsupervised clustering, supervised classification, neural network diagnostics, and reinforcement learning as a policy-learning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DC235-C871-4D4F-AF7E-CC9C002107C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47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figure compares tuned KNN and SVM performance on synthetic and real data.</a:t>
            </a:r>
          </a:p>
          <a:p>
            <a:r>
              <a:rPr lang="en-US" dirty="0"/>
              <a:t>The strongest result is SVM on real data, with 0.709 accuracy and 0.702 ROC-AUC.</a:t>
            </a:r>
          </a:p>
          <a:p>
            <a:r>
              <a:rPr lang="en-US" dirty="0"/>
              <a:t>The key takeaway is that synthetic testing is useful for development, but real-data benchmarking is essential before claiming practical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DC235-C871-4D4F-AF7E-CC9C002107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4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0A5D3-B3D2-AA28-C792-10F9E493D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8B3DB-0834-4231-EE76-F15C3DE1D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8890C-13A5-212E-DECE-5451425EC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portfolio is not only about prediction; it is about intervention.</a:t>
            </a:r>
          </a:p>
          <a:p>
            <a:r>
              <a:rPr lang="en-US" dirty="0"/>
              <a:t>After identifying risk groups, we can apply staged support actions rather than general outreach.</a:t>
            </a:r>
          </a:p>
          <a:p>
            <a:r>
              <a:rPr lang="en-US" dirty="0"/>
              <a:t>The RL experiment supports this direction by showing that learned policies can outperform random actions over time.</a:t>
            </a:r>
          </a:p>
          <a:p>
            <a:r>
              <a:rPr lang="en-US" dirty="0"/>
              <a:t>In practice, impact would be measured by retention, pass rates, and intervention response.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1560A-689D-35D8-31FE-821D87045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DC235-C871-4D4F-AF7E-CC9C002107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50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6754-996E-6D61-188E-F9D30B00C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EB859-BCC1-2432-5F41-F53CB0043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EEE8E-16AE-F429-9B9A-4B5255E28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4DD70-6F04-30DF-B6B4-07A3051B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2AECE-0521-55A5-9637-DF170FCB9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3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F8349-5AC0-4D0A-9993-489C89576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576C9-D61D-F782-D804-62E1DF8BA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7736E-DFD2-BFF1-4623-E7776D6AA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9AA3D-4AD6-4613-769C-9D43DB1A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2CFD6-7A85-AD51-593F-20F52F18F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75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EE168-6088-B44B-C4E6-24CB4A137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FBF92-F74B-FBBD-DEE1-3D62337BB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96ED7-5D2B-FE3E-D4FF-B69785007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5509E-C0C3-61D8-44E6-98DB329A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8F288-4C67-3E7E-C49F-0B02A057F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0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94C7A-9B12-3ECB-78FE-327848485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79969-3ABC-F6B1-DB4B-384E50C90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D3720-AC52-10AE-3C83-5C844B28B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41A1F-3B1B-A263-FC91-DBF678014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047CD-F6DB-3F8C-FF16-D643EFFF5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7E042-543F-D4E1-FEBE-697044444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3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F5850-90C4-5352-84C8-5D47B04FF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C921D-FC3E-F970-16B5-52361E056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31399-A46F-3701-3664-F38F5F015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C57E7-A4BC-5A2B-2462-56DA79FAC5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64316A-92A1-36BB-9B66-27B66FFF9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F02633-84DB-A201-77D7-75A3E7D8B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2F67E-C908-F6B6-6C3A-79D4D8D5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2A2D9C-6DE3-8419-5FAF-D84DE975E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31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9D0D-04EE-AFE7-40ED-DF16F218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0EE48-EA8E-EC60-DB3D-A8743051A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91A960-CA84-9BF4-C373-45356BF94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EBC2A-B9B8-A18F-06FE-01FA9CC6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67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560305-3970-A9C2-FEEF-1177C1304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D914CA-23A2-2470-3B39-77A8FF16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42323-0478-06AE-C481-EC2C4F64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6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080D4-47E6-88B1-68BA-15E7FDE94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62504-4FC7-DC89-EC17-76D9797C9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5CBF0-0412-EC00-76B4-634569659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66A09-BE56-2F00-3842-1212AE8EF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4F8B04-EF0F-DC0A-35E1-0E166FA46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A0CA2-CC8A-A8A1-3CB2-F28718CE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62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2F0C-14F4-D183-349A-54E6C806A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DC59F6-5A4F-87DD-1E72-F003CD9C00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1977F-E83A-7D0A-6C84-513CBC3A6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4CFE6-D33C-9A10-F209-D2F8B5A34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534F4-BB69-19EA-99FB-F679F160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5914E-19A6-7F09-462D-BEAC7DD6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74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A72F1-8BA3-458E-E84A-AEAE1E25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09F20D-929F-D7DF-7BBC-39AA03A37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2A913-2B53-395A-F4B3-336E34D56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CDFE0-9792-94FF-6BCA-91665F60D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41BBF-64B3-578C-688C-DC6F4705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94B74E-08AA-25E8-4BBD-00092BF327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20223-55A5-1E74-FE49-742652F9F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4042A-608F-A9B9-C982-D621779AA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17B3A-2E93-0B3A-BFFC-EE6C588C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D1281-A918-3CB0-D30F-BCB475F8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90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B3E4C2-AD4A-6713-82BB-607021282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82561-4900-4F33-53DD-0B69F63AD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7B92C-9AF4-19EF-7368-610F98918D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F8A4A8-4142-0648-99A9-95D3C2C8FC1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1B8E8-216D-F4B1-5A16-9D90EE2AA2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A6003-5E3B-04D9-B23C-F00E2D0F9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61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06096-ABA0-2CC2-B5F5-744F309531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Student Engagement Intelligence and Retention 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C19A8E-B02E-287B-B640-8EF6B0F49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by: </a:t>
            </a:r>
            <a:r>
              <a:rPr lang="en-US" i="1" dirty="0"/>
              <a:t>Ihor Melashchenko (C00290950), Software Development, Year 4</a:t>
            </a:r>
          </a:p>
        </p:txBody>
      </p:sp>
    </p:spTree>
    <p:extLst>
      <p:ext uri="{BB962C8B-B14F-4D97-AF65-F5344CB8AC3E}">
        <p14:creationId xmlns:p14="http://schemas.microsoft.com/office/powerpoint/2010/main" val="682860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105A5-F558-6D1C-3FBD-39C022CA7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Predicting Student Retention Risk and Understanding Engagement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71B03-00B9-310C-1458-0241F2C57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Strategy:</a:t>
            </a:r>
          </a:p>
          <a:p>
            <a:pPr lvl="1"/>
            <a:r>
              <a:rPr lang="en-US" dirty="0"/>
              <a:t>Synthetic retention dataset</a:t>
            </a:r>
          </a:p>
          <a:p>
            <a:pPr lvl="1"/>
            <a:r>
              <a:rPr lang="en-US" dirty="0"/>
              <a:t>Real benchmark dataset (UCI Student Performance)</a:t>
            </a:r>
          </a:p>
          <a:p>
            <a:r>
              <a:rPr lang="en-US" b="1" dirty="0"/>
              <a:t>Methods Used:</a:t>
            </a:r>
          </a:p>
          <a:p>
            <a:pPr lvl="1"/>
            <a:r>
              <a:rPr lang="en-US" dirty="0"/>
              <a:t>K-Means, KNN, SVN</a:t>
            </a:r>
          </a:p>
          <a:p>
            <a:pPr lvl="1"/>
            <a:r>
              <a:rPr lang="en-US" dirty="0"/>
              <a:t>ANN modeling for nonlinear patterns</a:t>
            </a:r>
          </a:p>
          <a:p>
            <a:pPr lvl="1"/>
            <a:r>
              <a:rPr lang="en-US" dirty="0"/>
              <a:t>RL prototype for intervention policy simulation</a:t>
            </a:r>
          </a:p>
          <a:p>
            <a:r>
              <a:rPr lang="en-US" b="1" dirty="0"/>
              <a:t>Why Mixed Data:</a:t>
            </a:r>
          </a:p>
          <a:p>
            <a:pPr lvl="1"/>
            <a:r>
              <a:rPr lang="en-US" dirty="0"/>
              <a:t>Synthetic data supports safe experimentation</a:t>
            </a:r>
          </a:p>
          <a:p>
            <a:pPr lvl="1"/>
            <a:r>
              <a:rPr lang="en-US" dirty="0"/>
              <a:t>Real data benchmark tests transferability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03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5CE8AF-4E5C-0238-80F9-76998127C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25" y="1506808"/>
            <a:ext cx="11533149" cy="384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07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E4DE3-E9EE-0F82-24F0-B90088841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B8B0A-EBAC-2FB2-F68D-DEB26C9F3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Prediction to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C9D0D-CE3D-E479-52F0-BB62A06DD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Segment Students by Risk Score:</a:t>
            </a:r>
          </a:p>
          <a:p>
            <a:pPr lvl="1"/>
            <a:r>
              <a:rPr lang="en-US" dirty="0"/>
              <a:t>Low, medium, high</a:t>
            </a:r>
          </a:p>
          <a:p>
            <a:r>
              <a:rPr lang="en-US" b="1" dirty="0"/>
              <a:t>High-Risk Triggers:</a:t>
            </a:r>
          </a:p>
          <a:p>
            <a:pPr lvl="1"/>
            <a:r>
              <a:rPr lang="en-US" dirty="0"/>
              <a:t>Attendance drop, low LMS activity, weak assessment trend</a:t>
            </a:r>
          </a:p>
          <a:p>
            <a:r>
              <a:rPr lang="en-US" b="1" dirty="0"/>
              <a:t>Intervention Policy:</a:t>
            </a:r>
          </a:p>
          <a:p>
            <a:pPr lvl="1"/>
            <a:r>
              <a:rPr lang="en-US" i="1" dirty="0"/>
              <a:t>Week 1:</a:t>
            </a:r>
            <a:r>
              <a:rPr lang="en-US" dirty="0"/>
              <a:t> advisor check-in</a:t>
            </a:r>
          </a:p>
          <a:p>
            <a:pPr lvl="1"/>
            <a:r>
              <a:rPr lang="en-US" i="1" dirty="0"/>
              <a:t>Week 2:</a:t>
            </a:r>
            <a:r>
              <a:rPr lang="en-US" dirty="0"/>
              <a:t> academic support referral</a:t>
            </a:r>
          </a:p>
          <a:p>
            <a:pPr lvl="1"/>
            <a:r>
              <a:rPr lang="en-US" i="1" dirty="0"/>
              <a:t>Week 3:</a:t>
            </a:r>
            <a:r>
              <a:rPr lang="en-US" dirty="0"/>
              <a:t> follow-up and escalation if needed</a:t>
            </a:r>
          </a:p>
          <a:p>
            <a:r>
              <a:rPr lang="en-US" b="1" dirty="0"/>
              <a:t>Success KPIs:</a:t>
            </a:r>
          </a:p>
          <a:p>
            <a:pPr lvl="1"/>
            <a:r>
              <a:rPr lang="en-US" dirty="0"/>
              <a:t>Retention uplift, pass-rate uplift, intervention response rate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594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8515A-5330-7E66-E4B0-47A70564E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8830C-D70B-952A-90E9-8521A8856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646773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314</Words>
  <Application>Microsoft Macintosh PowerPoint</Application>
  <PresentationFormat>Widescreen</PresentationFormat>
  <Paragraphs>39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Student Engagement Intelligence and Retention Portfolio</vt:lpstr>
      <vt:lpstr>Predicting Student Retention Risk and Understanding Engagement Patterns</vt:lpstr>
      <vt:lpstr>PowerPoint Presentation</vt:lpstr>
      <vt:lpstr>From Prediction to Action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(Student  C00290950) Ihor Melashchenko</dc:creator>
  <cp:lastModifiedBy>(Student  C00290950) Ihor Melashchenko</cp:lastModifiedBy>
  <cp:revision>2</cp:revision>
  <dcterms:created xsi:type="dcterms:W3CDTF">2025-12-02T10:48:05Z</dcterms:created>
  <dcterms:modified xsi:type="dcterms:W3CDTF">2026-04-20T15:28:13Z</dcterms:modified>
</cp:coreProperties>
</file>